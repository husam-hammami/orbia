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SPINE MRI VISUAL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Image-by-Image Assessment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Patient: Husam Ahmad Hammami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DOB: 01/01/1989  |  Age: 37  |  Male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MRI Studies  |  847 Images  |  362 DICOM Slices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Date: March 8,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informational purposes only — not medical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CLINICAL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2471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07592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Sneeze → Massive L5-S1 disc sequestration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47672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14,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645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Surgery (Emirates Hospital) — Discectomy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0487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587752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#1: Surgery already failing (NEVER reported)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4495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227832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#2: Catastrophic progression (NEVER reported)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182880" cy="1828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867912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3, 2025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566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Surgery (Medcare) — Revision + dural repair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325112"/>
            <a:ext cx="182880" cy="1828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206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21,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206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#3: Contrast study — neuritis + fibrosis found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Surgery Failed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surgeon found disc "intact with no evidence it had been opened." Massive fragments still inside.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Dural Tear Missed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found at 2nd surgery, never documented at 1st. First surgeon recorded complications: "none."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7-Month Delay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MRIs showed progressive failure but were NEVER formally reported. Patient suffered 7 months before revision.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73152" cy="1645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Surgery Thorough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5204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removed, tear sealed, decompression verified with probe. But damage from prolonged compression already done.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L5-S1 SAGITTAL PROGRESSION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Sagittal across 3 timepoints — failure, catastrophe, partial recovery</a:t>
            </a:r>
            <a:endParaRPr lang="en-US" sz="1200" dirty="0"/>
          </a:p>
        </p:txBody>
      </p:sp>
      <p:pic>
        <p:nvPicPr>
          <p:cNvPr id="4" name="Image 0" descr="/sessions/friendly-jolly-cerf/annotated_mri/01_sagittal_progr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8595360" cy="3538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2025: Protrusion already present  |  September 2025: Massive herniation  |  February 2026: Improved but residual disc + fibrosis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L5-S1 AXIAL PROGRESSION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Axial at disc level — left lateral recess continuously compromised</a:t>
            </a:r>
            <a:endParaRPr lang="en-US" sz="1200" dirty="0"/>
          </a:p>
        </p:txBody>
      </p:sp>
      <p:pic>
        <p:nvPicPr>
          <p:cNvPr id="4" name="Image 0" descr="/sessions/friendly-jolly-cerf/annotated_mri/05_axial_progr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346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lateral recess occupied at every timepoint. In September 2025 the S1 nerve root is completely buried.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SCAR vs DISC — THE KEY FINDING</a:t>
            </a:r>
            <a:endParaRPr lang="en-US" sz="2600" dirty="0"/>
          </a:p>
        </p:txBody>
      </p:sp>
      <p:pic>
        <p:nvPicPr>
          <p:cNvPr id="3" name="Image 0" descr="/sessions/friendly-jolly-cerf/annotated_mri/02_vibe_scar_vs_dis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38912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822960"/>
            <a:ext cx="3931920" cy="3291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120640" y="9144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VIBE Fat-Sat Pre vs Post-Gadolinium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GREEN = SCAR (enhances bright)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Fibrosis lights up after contrast injection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RED = DISC (stays dark)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Actual disc material still present, does NOT enhance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MIXED PICTURE: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The compression is from BOTH scar AND disc. Disc material is still there but encased in fibrosis.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MAJOR FINDING: LEFT S1 NERVE ROOT NEURITIS</a:t>
            </a:r>
            <a:endParaRPr lang="en-US" sz="2200" dirty="0"/>
          </a:p>
        </p:txBody>
      </p:sp>
      <p:pic>
        <p:nvPicPr>
          <p:cNvPr id="4" name="Image 0" descr="/sessions/friendly-jolly-cerf/annotated_mri/03_nerve_neurit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43891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822960"/>
            <a:ext cx="3931920" cy="32918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91440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The nerve itself is inflamed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Normal nerves do NOT enhance with Gadolinium contrast. The left S1 nerve root DOES enhance — proving the blood-nerve barrier has broken down.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This was NOT in the radiology report.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This explains: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Persistent left leg pain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Numbness in calf/foot (S1 dermatome)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• Potential ankle weakness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TREATABLE with targeted epidural steroids + neuropathic medications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FIBROSIS MAPPING — NERVE ENCASEMENT</a:t>
            </a:r>
            <a:endParaRPr lang="en-US" sz="2600" dirty="0"/>
          </a:p>
        </p:txBody>
      </p:sp>
      <p:pic>
        <p:nvPicPr>
          <p:cNvPr id="3" name="Image 0" descr="/sessions/friendly-jolly-cerf/annotated_mri/04_fibrosis_map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8595360" cy="288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16-20mm of scar tissue wrapping around the left S1 nerve root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The nerve is imprisoned in a constrictive sleeve of fibrosis. Combined with disc material anteriorly, the nerve is compressed from all directions.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L4-L5 ADJACENT SEGMENT DISEASE</a:t>
            </a:r>
            <a:endParaRPr lang="en-US" sz="2600" dirty="0"/>
          </a:p>
        </p:txBody>
      </p:sp>
      <p:pic>
        <p:nvPicPr>
          <p:cNvPr id="3" name="Image 0" descr="/sessions/friendly-jolly-cerf/annotated_mri/08_facet_synovit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22960"/>
            <a:ext cx="4389120" cy="2743200"/>
          </a:xfrm>
          <a:prstGeom prst="rect">
            <a:avLst/>
          </a:prstGeom>
        </p:spPr>
      </p:pic>
      <p:pic>
        <p:nvPicPr>
          <p:cNvPr id="4" name="Image 1" descr="/sessions/friendly-jolly-cerf/annotated_mri/07_adjacent_segm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822960"/>
            <a:ext cx="4206240" cy="26517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L4-L5 is deteriorating — a NEW problem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Left: Facet joints actively inflamed (enhance on contrast) — treatable with targeted injections. Right: Progressive disc degeneration at L4-L5 from September 2025 to February 2026. This level was normal before the surgeries.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INFLAMMATION PATTERN — LEFT-SIDED PREDOMINANCE</a:t>
            </a:r>
            <a:endParaRPr lang="en-US" sz="2200" dirty="0"/>
          </a:p>
        </p:txBody>
      </p:sp>
      <p:pic>
        <p:nvPicPr>
          <p:cNvPr id="3" name="Image 0" descr="/sessions/friendly-jolly-cerf/annotated_mri/06_tirm_coronal_inflamm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822960"/>
            <a:ext cx="64008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DIAGNOSTIC PICTURE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77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nerve root neuritis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087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disc at L5-S1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Constrictive fibrosis (16-20mm)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31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331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foraminal stenosis L5-S1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743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L5-S1 disc (Pfirrmann V)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END-STAGE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154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154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L4-L5 adjacent segment + facet synovitis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5661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3566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adhesive changes (localized)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 arachnoiditis  •  Pseudomeningocele  •  Sacroiliitis  •  Infection  •  Tumor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EVALUATION: CRPS (cannot exclude from spine MRI alone)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Neuritis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Transforaminal epidural steroid injection at left L5-S1 + neuropathic pain meds (pregabalin/gabapentin)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920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L4-L5 Facet Blocks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240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Diagnostic/therapeutic facet injections — if pain improves, confirms facets as pain source + treat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9260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 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246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EMG/NCS to quantify nerve damage + CRPS screening with Budapest criteria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931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Neuromodulation Evaluation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2519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 stimulation or DRG stimulation — strong evidence for failed back surgery syndrome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3rd surgery unless all conservative measures fail — high fibrosis risk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Husam Hammami - Spine MRI Visual Analysis</dc:title>
  <dc:subject>PptxGenJS Presentation</dc:subject>
  <dc:creator>Independent Analysis</dc:creator>
  <cp:lastModifiedBy>Independent Analysis</cp:lastModifiedBy>
  <cp:revision>1</cp:revision>
  <dcterms:created xsi:type="dcterms:W3CDTF">2026-03-08T01:34:01Z</dcterms:created>
  <dcterms:modified xsi:type="dcterms:W3CDTF">2026-03-08T01:34:01Z</dcterms:modified>
</cp:coreProperties>
</file>